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74" y="48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525577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034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30599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7647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38209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918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3363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10147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2404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84671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f3a8d4be09_2_86"/>
          <p:cNvSpPr/>
          <p:nvPr/>
        </p:nvSpPr>
        <p:spPr>
          <a:xfrm>
            <a:off x="0" y="3"/>
            <a:ext cx="12192000" cy="819300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5" name="Google Shape;25;gf3a8d4be09_2_86"/>
          <p:cNvCxnSpPr/>
          <p:nvPr/>
        </p:nvCxnSpPr>
        <p:spPr>
          <a:xfrm>
            <a:off x="0" y="6457951"/>
            <a:ext cx="9608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6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1"/>
          <p:cNvSpPr/>
          <p:nvPr/>
        </p:nvSpPr>
        <p:spPr>
          <a:xfrm>
            <a:off x="0" y="13"/>
            <a:ext cx="12192000" cy="819151"/>
          </a:xfrm>
          <a:prstGeom prst="rect">
            <a:avLst/>
          </a:prstGeom>
          <a:solidFill>
            <a:srgbClr val="D5DBE5"/>
          </a:solidFill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0" name="Google Shape;30;p61"/>
          <p:cNvCxnSpPr/>
          <p:nvPr/>
        </p:nvCxnSpPr>
        <p:spPr>
          <a:xfrm>
            <a:off x="13" y="6457951"/>
            <a:ext cx="9608457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0"/>
          <p:cNvSpPr txBox="1">
            <a:spLocks noGrp="1"/>
          </p:cNvSpPr>
          <p:nvPr>
            <p:ph type="title"/>
          </p:nvPr>
        </p:nvSpPr>
        <p:spPr>
          <a:xfrm>
            <a:off x="831851" y="170975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0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9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4"/>
          <p:cNvSpPr txBox="1">
            <a:spLocks noGrp="1"/>
          </p:cNvSpPr>
          <p:nvPr>
            <p:ph type="body" idx="1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5" name="Google Shape;45;p44"/>
          <p:cNvSpPr txBox="1">
            <a:spLocks noGrp="1"/>
          </p:cNvSpPr>
          <p:nvPr>
            <p:ph type="body" idx="2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46" name="Google Shape;46;p44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5"/>
          <p:cNvSpPr>
            <a:spLocks noGrp="1"/>
          </p:cNvSpPr>
          <p:nvPr>
            <p:ph type="pic" idx="2"/>
          </p:nvPr>
        </p:nvSpPr>
        <p:spPr>
          <a:xfrm>
            <a:off x="5183188" y="987437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45"/>
          <p:cNvSpPr txBox="1">
            <a:spLocks noGrp="1"/>
          </p:cNvSpPr>
          <p:nvPr>
            <p:ph type="body" idx="1"/>
          </p:nvPr>
        </p:nvSpPr>
        <p:spPr>
          <a:xfrm>
            <a:off x="839788" y="2057403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5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7"/>
            <a:ext cx="4351339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>
            <a:spLocks noGrp="1"/>
          </p:cNvSpPr>
          <p:nvPr>
            <p:ph type="title"/>
          </p:nvPr>
        </p:nvSpPr>
        <p:spPr>
          <a:xfrm rot="5400000">
            <a:off x="7133442" y="1956595"/>
            <a:ext cx="5811839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 rot="5400000">
            <a:off x="1799442" y="-596106"/>
            <a:ext cx="5811839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sp>
        <p:nvSpPr>
          <p:cNvPr id="73" name="Google Shape;73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  <p:sp>
        <p:nvSpPr>
          <p:cNvPr id="74" name="Google Shape;74;p1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63275" y="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383125" y="1149375"/>
            <a:ext cx="1103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Constraints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Diagram</a:t>
            </a:r>
            <a:endParaRPr/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354842" y="955342"/>
            <a:ext cx="1084997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IVF Sperm Selection </a:t>
            </a:r>
            <a:r>
              <a:rPr lang="en-IN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embryologist selection causes 15-25 min/oocyte variability; high-volume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(&gt;2000 cycles) show 75% lower embryo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quality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Morphology-based accuracy: 10-15% error rate across embryologists; average inefficiency 0-2% in poor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performers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impact: 50-80% yield loss per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inconsistent selection leading to reduced fertilization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1617902" y="1428891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409433" y="1023583"/>
            <a:ext cx="112301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Data-Driven IVF Optimization </a:t>
            </a:r>
            <a:r>
              <a:rPr lang="en-IN" sz="2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embryologist sessions, quantify morphology errors, track patient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analytics to standardize selection, reduce variability, boost fertilization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Target: High-volume IVF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manual microscopy workflows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077470"/>
              </p:ext>
            </p:extLst>
          </p:nvPr>
        </p:nvGraphicFramePr>
        <p:xfrm>
          <a:off x="578893" y="1843128"/>
          <a:ext cx="8742528" cy="3627120"/>
        </p:xfrm>
        <a:graphic>
          <a:graphicData uri="http://schemas.openxmlformats.org/drawingml/2006/table">
            <a:tbl>
              <a:tblPr/>
              <a:tblGrid>
                <a:gridCol w="2505501"/>
                <a:gridCol w="2251881"/>
                <a:gridCol w="2210937"/>
                <a:gridCol w="1774209"/>
              </a:tblGrid>
              <a:tr h="0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800" b="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40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40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800" b="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800" b="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Range/Error Rate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IN" sz="1800" b="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Time_per_Oocyte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 time per oocyte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15-25 minutes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 session logs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Morphology_Accuracy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Sperm morphology selection error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10-15%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Microscopist eval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Center_Volume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Annual cycles per </a:t>
                      </a: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en-IN" sz="18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anchor="ctr">
                    <a:lnL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4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&gt;2000 (high-volume)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4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Clinic database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Embryo_Yield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Fertilization success rate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 lower in poor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outcomes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Error_Rate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embryologist inefficiency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4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0-2%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84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Aggregated logs​</a:t>
                      </a:r>
                    </a:p>
                  </a:txBody>
                  <a:tcPr marL="76200" marR="76200" anchor="ctr">
                    <a:lnL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04A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237699" y="1013446"/>
            <a:ext cx="117322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 MySQL extraction from IVF lab databases, embryologist time-tracking, cycle outcome tables.</a:t>
            </a:r>
            <a:endParaRPr kumimoji="0" lang="en-US" sz="28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238500" y="2076450"/>
            <a:ext cx="899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5"/>
          <p:cNvSpPr txBox="1"/>
          <p:nvPr/>
        </p:nvSpPr>
        <p:spPr>
          <a:xfrm>
            <a:off x="4699351" y="4070927"/>
            <a:ext cx="754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5"/>
          <p:cNvSpPr txBox="1"/>
          <p:nvPr/>
        </p:nvSpPr>
        <p:spPr>
          <a:xfrm>
            <a:off x="191575" y="4750800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559838" y="1181100"/>
            <a:ext cx="5374433" cy="4771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6265119" y="1181100"/>
            <a:ext cx="5374433" cy="4771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559838" y="1181100"/>
            <a:ext cx="537443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Statistical Insights</a:t>
            </a:r>
            <a:endParaRPr sz="2000" b="1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5984033" y="1175021"/>
            <a:ext cx="5374433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Business Insights</a:t>
            </a:r>
            <a:endParaRPr sz="2000" b="1" i="0" u="sng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55176" y="1852891"/>
            <a:ext cx="4764107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Time variability explains 62% of yield variance (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r=0.78)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High-volume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centers: 3x higher error rates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low-volume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Detection: 15% of sessions flagged as anomalies (±3σ from mean time); these correlate with 40% yield drop (Pearson r = -0.65).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556299" y="1852891"/>
            <a:ext cx="4760627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embryologists achieve 92% accuracy; benchmark for training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 quality drop in &gt;2000 cycle centers directly ties to manual selection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flaws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Mitigation: High-volume centers face 50-80% financial loss from poor selection—dashboard with RLS enables real-time monitoring to cap errors &lt;10%.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sp>
        <p:nvSpPr>
          <p:cNvPr id="129" name="Google Shape;129;p30"/>
          <p:cNvSpPr txBox="1"/>
          <p:nvPr/>
        </p:nvSpPr>
        <p:spPr>
          <a:xfrm>
            <a:off x="876300" y="14287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3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523164" y="1428750"/>
            <a:ext cx="109273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Cleaning: Keep observations with complete session data (drop 8% nulls); outlier removal (±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l-G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Transformation: Normalize morphology scores (0-1 scale); aggregate daily embryologist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 Variability index = SD(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time_per_oocyte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volume buckets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(medium)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/>
          </a:p>
        </p:txBody>
      </p:sp>
      <p:sp>
        <p:nvSpPr>
          <p:cNvPr id="137" name="Google Shape;137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287350" y="1245175"/>
            <a:ext cx="110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66750" y="1484775"/>
            <a:ext cx="1120680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  <a:r>
              <a:rPr lang="en-IN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Views:</a:t>
            </a:r>
            <a:endParaRPr lang="en-IN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 Time variability by embryologist (target &lt;18 min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Plot: Morphology accuracy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volume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trendline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inverse correlation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 Embryo yield trends pre/post-optimization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276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Georgia</vt:lpstr>
      <vt:lpstr>Times New Roman</vt:lpstr>
      <vt:lpstr>Wingdings</vt:lpstr>
      <vt:lpstr>Office Theme</vt:lpstr>
      <vt:lpstr>PowerPoint Presentation</vt:lpstr>
      <vt:lpstr>Contents</vt:lpstr>
      <vt:lpstr>Business Problem</vt:lpstr>
      <vt:lpstr>Project Overview and Scope</vt:lpstr>
      <vt:lpstr>Data Dictionary </vt:lpstr>
      <vt:lpstr>Exploratory Data Analysis [EDA]</vt:lpstr>
      <vt:lpstr>Data Preprocessing</vt:lpstr>
      <vt:lpstr>Data Visualization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VIKAS BARTHWAL</dc:creator>
  <cp:lastModifiedBy>Admin</cp:lastModifiedBy>
  <cp:revision>3</cp:revision>
  <dcterms:created xsi:type="dcterms:W3CDTF">2022-02-16T01:47:29Z</dcterms:created>
  <dcterms:modified xsi:type="dcterms:W3CDTF">2026-02-06T06:51:52Z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